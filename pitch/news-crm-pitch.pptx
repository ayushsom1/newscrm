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News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The AI-assisted CRM built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9E1B17"/>
                </a:solidFill>
                <a:latin typeface="Calibri"/>
              </a:rPr>
              <a:t>regional newspapers.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FCBC2"/>
                </a:solidFill>
                <a:latin typeface="Calibri"/>
              </a:rPr>
              <a:t>Two revenue engines. One operating principle: human on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A9588"/>
                </a:solidFill>
                <a:latin typeface="Calibri"/>
              </a:rPr>
              <a:t>Made for India and Nepal. Cloud or self-hosted.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Regional dailies lose what they can't see.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3611880" cy="329184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Ad revenue softens silently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Spend drops by 20–30% over two quarters before anyone catches it. By the time a renewal call goes out, the advertiser has already moved budget to digital.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286000"/>
            <a:ext cx="3611880" cy="329184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286000"/>
            <a:ext cx="320040" cy="320040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974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Reminders and reviews are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661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Renewal call lists are kept in spreadsheets. Complaint email goes to whoever is at the front desk. Billing disputes get handled the wrong way because nobody routes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286000"/>
            <a:ext cx="3611880" cy="329184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20040" cy="320040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6974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Print runs over- or under-print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5661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Without a per-area returns model, circulation rounds up to be safe. 5–15% of copies are wasted; the rest don't reach demand pockets.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C1A16"/>
                </a:solidFill>
                <a:latin typeface="Calibri"/>
              </a:rPr>
              <a:t>All of this is solvable using data the newsroom already collects.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One CRM. Two revenue engines.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706D66"/>
                </a:solidFill>
                <a:latin typeface="Calibri"/>
              </a:rPr>
              <a:t>Sales, circulation and operations on the same screen — with AI that does the routine and a person who approves what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611880" cy="457200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ADVERTISING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Advertiser &amp; contract CRUD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Churn engine: spend trend + open rate + days to expiry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AI proposal drafting with approval gate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Government tender tracker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468880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468880"/>
            <a:ext cx="36118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46888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CIRCULATION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Subscriber &amp; subscription CRUD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Renewal-risk engine + at-risk flagging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Per-area print-run forecast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Scheduled reminders on 14 / 7 / 3 / 1-day windows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468880"/>
            <a:ext cx="36118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361188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4612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AI complaint triage with engine fallback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Auto-resolve routine ops; escalate sensitive ones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Exception queue: a single pane for human attention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Audit log of every AI and user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C1A16"/>
                </a:solidFill>
                <a:latin typeface="Calibri"/>
              </a:rPr>
              <a:t>AI does the routine. A person approves anything that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3611880" cy="4206240"/>
          </a:xfrm>
          <a:prstGeom prst="rect">
            <a:avLst/>
          </a:prstGeom>
          <a:solidFill>
            <a:srgbClr val="E8F1EB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  <a:latin typeface="Calibri"/>
              </a:rPr>
              <a:t>AI HANDLES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1A16"/>
                </a:solidFill>
                <a:latin typeface="Calibri"/>
              </a:rPr>
              <a:t>Routine work the AI can finish without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15803D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Non-delivery, pause, plan-change complaints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 b="1">
                <a:solidFill>
                  <a:srgbClr val="15803D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Proposal first drafts grounded on real numbers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 b="1">
                <a:solidFill>
                  <a:srgbClr val="15803D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Daily reminders for upcoming renewals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103120"/>
            <a:ext cx="3611880" cy="4206240"/>
          </a:xfrm>
          <a:prstGeom prst="rect">
            <a:avLst/>
          </a:prstGeom>
          <a:solidFill>
            <a:srgbClr val="FDF2D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4231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HUMAN APPROVES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880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1A16"/>
                </a:solidFill>
                <a:latin typeface="Calibri"/>
              </a:rPr>
              <a:t>AI prepares the work; you click Approve.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B45309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Every AI-drafted proposal before it is sent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 b="1">
                <a:solidFill>
                  <a:srgbClr val="B45309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Each assistant 'proposed action' from the chat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 b="1">
                <a:solidFill>
                  <a:srgbClr val="B45309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Anything flagged needs_human (e.g. high churn)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3611880" cy="4206240"/>
          </a:xfrm>
          <a:prstGeom prst="rect">
            <a:avLst/>
          </a:prstGeom>
          <a:solidFill>
            <a:srgbClr val="F9E3E3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4231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E1B17"/>
                </a:solidFill>
                <a:latin typeface="Calibri"/>
              </a:rPr>
              <a:t>ALWAYS ESCALATES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803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1A16"/>
                </a:solidFill>
                <a:latin typeface="Calibri"/>
              </a:rPr>
              <a:t>Sensitive cases never touch the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794760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9E1B17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Billing disputes, refunds, double charges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 b="1">
                <a:solidFill>
                  <a:srgbClr val="9E1B17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Fraud, legal action, harassment, abuse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00" b="1">
                <a:solidFill>
                  <a:srgbClr val="9E1B17"/>
                </a:solidFill>
                <a:latin typeface="Calibri"/>
              </a:rPr>
              <a:t>·  </a:t>
            </a:r>
            <a:r>
              <a:rPr sz="1200">
                <a:solidFill>
                  <a:srgbClr val="1C1A16"/>
                </a:solidFill>
                <a:latin typeface="Calibri"/>
              </a:rPr>
              <a:t>Hard guardrail in the rules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06D66"/>
                </a:solidFill>
                <a:latin typeface="Calibri"/>
              </a:rPr>
              <a:t>Every AI draft, triage and proposed action writes an AuditLog 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FOR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Stop losing accounts to silent churn.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5394960" cy="420624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280160" cy="292608"/>
          </a:xfrm>
          <a:prstGeom prst="rect">
            <a:avLst/>
          </a:prstGeom>
          <a:solidFill>
            <a:srgbClr val="1C1A16"/>
          </a:solidFill>
          <a:ln>
            <a:solidFill>
              <a:srgbClr val="1C1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Deterministic. No LLM. Fully tested.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Churn engine: combines spend trend, proposal open rate and days-to-expiry into a 0-100 score and a low / med / high band.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Pricing engine: Decimal money throughout, category multipliers, multi-day discounts, locale-aware GST or VAT.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Re-scored nightly. Snapshots stored, never trusted.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394960" cy="4206240"/>
          </a:xfrm>
          <a:prstGeom prst="rect">
            <a:avLst/>
          </a:prstGeom>
          <a:solidFill>
            <a:srgbClr val="E6EEFD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377440"/>
            <a:ext cx="1280160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+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Drafts proposals, never sends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AI drafter sees only the advertiser snapshot — name, contact, money as text, churn band. Prompt forbids inventing numbers.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Every draft saved as DRAFT awaiting approval; high-churn accounts flagged needs_human and cannot be one-click approved.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Send button is logged with actor, time and recipient.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FOR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Hold subscribers. Cut print waste.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4572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C1A16"/>
                </a:solidFill>
                <a:latin typeface="Calibri"/>
              </a:rPr>
              <a:t>At-risk flagging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Renewal engine combines days-to-renew and missed payments into low / med / high severity, with explainable reasons on every 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4572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C1A16"/>
                </a:solidFill>
                <a:latin typeface="Calibri"/>
              </a:rPr>
              <a:t>Print-run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Per-area target copies = (active + buffer) × (1 + returns %). Cuts the guesswork out of the print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4572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C1A16"/>
                </a:solidFill>
                <a:latin typeface="Calibri"/>
              </a:rPr>
              <a:t>Reminders that don't double-fire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Daily job sends emails to advertisers and subscribers on 14 / 7 / 3 / 1-day windows. Idempotent per day; restart-safe.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6908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69080"/>
            <a:ext cx="4572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C1A16"/>
                </a:solidFill>
                <a:latin typeface="Calibri"/>
              </a:rPr>
              <a:t>Complaint triage built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4632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Routine ops auto-resolve with action logged. Billing, fraud and harassment ALWAYS go to a human — guardrail fires before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C1A16"/>
                </a:solidFill>
                <a:latin typeface="Calibri"/>
              </a:rPr>
              <a:t>One screen for everything that needs a human.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06D66"/>
                </a:solidFill>
                <a:latin typeface="Calibri"/>
              </a:rPr>
              <a:t>The exception queue is derived live from the CRM — it cannot drift from reality. Each row tells you exactly where to click.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10642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41148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Exception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19" y="2542032"/>
            <a:ext cx="9601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9E1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2542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9E1B17"/>
                </a:solidFill>
                <a:latin typeface="Calibri"/>
              </a:rPr>
              <a:t>HUMAN 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59" y="2542032"/>
            <a:ext cx="9601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9" y="2542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  <a:latin typeface="Calibri"/>
              </a:rPr>
              <a:t>APPROVE 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599" y="2542032"/>
            <a:ext cx="9601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599" y="2542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Calibri"/>
              </a:rPr>
              <a:t>AI HANDLED 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solidFill>
            <a:srgbClr val="F9E3E3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914400" cy="292608"/>
          </a:xfrm>
          <a:prstGeom prst="rect">
            <a:avLst/>
          </a:prstGeom>
          <a:solidFill>
            <a:srgbClr val="9E1B17"/>
          </a:solidFill>
          <a:ln>
            <a:solidFill>
              <a:srgbClr val="9E1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926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Sunrise Builders flagged high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06D66"/>
                </a:solidFill>
                <a:latin typeface="Calibri"/>
              </a:rPr>
              <a:t>score=76  ·  spend down -55%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solidFill>
            <a:srgbClr val="F9E3E3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914400" cy="292608"/>
          </a:xfrm>
          <a:prstGeom prst="rect">
            <a:avLst/>
          </a:prstGeom>
          <a:solidFill>
            <a:srgbClr val="9E1B17"/>
          </a:solidFill>
          <a:ln>
            <a:solidFill>
              <a:srgbClr val="9E1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383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Harish Chand Verma — 3 missed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3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06D66"/>
                </a:solidFill>
                <a:latin typeface="Calibri"/>
              </a:rPr>
              <a:t>area=Saket Nagar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solidFill>
            <a:srgbClr val="FDF2D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931920"/>
            <a:ext cx="914400" cy="292608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840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Renewal proposal awaiting approval — Greenleaf Restaurant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06D66"/>
                </a:solidFill>
                <a:latin typeface="Calibri"/>
              </a:rPr>
              <a:t>source=AI_DRAFT  ·  contract expires in 7d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FDF2D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389120"/>
            <a:ext cx="914400" cy="292608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891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297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Public Health — Dengue Awareness Campaign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297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06D66"/>
                </a:solidFill>
                <a:latin typeface="Calibri"/>
              </a:rPr>
              <a:t>deadline in 7d  ·  est ₹2,50,000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solidFill>
            <a:srgbClr val="E8F1EB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846320"/>
            <a:ext cx="914400" cy="2926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8463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HANDLED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754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Wet copy complaint — Rashmi Agarwal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754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06D66"/>
                </a:solidFill>
                <a:latin typeface="Calibri"/>
              </a:rPr>
              <a:t>auto-resolved  ·  replacement scheduled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solidFill>
            <a:srgbClr val="E8F1EB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303520"/>
            <a:ext cx="914400" cy="2926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HANDLED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212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Pause request — Meera Iyer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212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706D66"/>
                </a:solidFill>
                <a:latin typeface="Calibri"/>
              </a:rPr>
              <a:t>auto-resolved  ·  paused 15-30 of 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C1A16"/>
                </a:solidFill>
                <a:latin typeface="Calibri"/>
              </a:rPr>
              <a:t>Split the brain. So the AI can never get it wrong.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5486400" cy="310896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C1A16"/>
                </a:solidFill>
                <a:latin typeface="Calibri"/>
              </a:rPr>
              <a:t>Arithmetic. Rules.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Pricing · churn · renewal · print-run · triage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Pure functions. No LLM. Decimal end-to-end.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Unit-tested boundary by boundary. Repeatable.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486400" cy="3108960"/>
          </a:xfrm>
          <a:prstGeom prst="rect">
            <a:avLst/>
          </a:prstGeom>
          <a:solidFill>
            <a:srgbClr val="E6EEFD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AI (OpenRouter)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C1A16"/>
                </a:solidFill>
                <a:latin typeface="Calibri"/>
              </a:rPr>
              <a:t>Language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576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Drafts proposals · triages complaints · grounded chat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Pydantic-validated output. Engine fallback on any failure.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rgbClr val="706D66"/>
                </a:solidFill>
                <a:latin typeface="Calibri"/>
              </a:rPr>
              <a:t>—  </a:t>
            </a:r>
            <a:r>
              <a:rPr sz="1300">
                <a:solidFill>
                  <a:srgbClr val="1C1A16"/>
                </a:solidFill>
                <a:latin typeface="Calibri"/>
              </a:rPr>
              <a:t>Swap model via one env var: GPT, Claude, Llama, Gemini.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1C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AUDIT LOG  ·  every AI draft, every triage, every approve / reject / send writes a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Operate the AI on your terms.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68580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6858000" cy="4114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1A16"/>
                </a:solidFill>
                <a:latin typeface="Calibri"/>
              </a:rPr>
              <a:t>Settings  ·  Autonomy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6400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C1A16"/>
                </a:solidFill>
                <a:latin typeface="Calibri"/>
              </a:rPr>
              <a:t>AI complaint triage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907792"/>
            <a:ext cx="640080" cy="219456"/>
          </a:xfrm>
          <a:prstGeom prst="rect">
            <a:avLst/>
          </a:prstGeom>
          <a:solidFill>
            <a:srgbClr val="1C1A16"/>
          </a:solidFill>
          <a:ln>
            <a:solidFill>
              <a:srgbClr val="1C1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293522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401568"/>
            <a:ext cx="6400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0156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C1A16"/>
                </a:solidFill>
                <a:latin typeface="Calibri"/>
              </a:rPr>
              <a:t>Auto-resolve routine triage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3566160"/>
            <a:ext cx="640080" cy="219456"/>
          </a:xfrm>
          <a:prstGeom prst="rect">
            <a:avLst/>
          </a:prstGeom>
          <a:solidFill>
            <a:srgbClr val="1C1A16"/>
          </a:solidFill>
          <a:ln>
            <a:solidFill>
              <a:srgbClr val="1C1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3593592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059936"/>
            <a:ext cx="6400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5993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C1A16"/>
                </a:solidFill>
                <a:latin typeface="Calibri"/>
              </a:rPr>
              <a:t>AI proposal drafting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4224528"/>
            <a:ext cx="640080" cy="219456"/>
          </a:xfrm>
          <a:prstGeom prst="rect">
            <a:avLst/>
          </a:prstGeom>
          <a:solidFill>
            <a:srgbClr val="1C1A16"/>
          </a:solidFill>
          <a:ln>
            <a:solidFill>
              <a:srgbClr val="1C1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4251960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6400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1830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C1A16"/>
                </a:solidFill>
                <a:latin typeface="Calibri"/>
              </a:rPr>
              <a:t>High-churn drafts always need a human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882896"/>
            <a:ext cx="640080" cy="219456"/>
          </a:xfrm>
          <a:prstGeom prst="rect">
            <a:avLst/>
          </a:prstGeom>
          <a:solidFill>
            <a:srgbClr val="1C1A16"/>
          </a:solidFill>
          <a:ln>
            <a:solidFill>
              <a:srgbClr val="1C1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4910328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76672"/>
            <a:ext cx="6400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C1A16"/>
                </a:solidFill>
                <a:latin typeface="Calibri"/>
              </a:rPr>
              <a:t>Assistant actions require 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5541264"/>
            <a:ext cx="640080" cy="219456"/>
          </a:xfrm>
          <a:prstGeom prst="rect">
            <a:avLst/>
          </a:prstGeom>
          <a:solidFill>
            <a:srgbClr val="CFCBC2"/>
          </a:solidFill>
          <a:ln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64808" y="5568696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2103120"/>
            <a:ext cx="3931920" cy="411480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4688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WHAT THE DIAL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971800"/>
            <a:ext cx="34747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Take AI off a feature and the engine fallback runs immediately.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Force everything to a human while you build trust in a pilot.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Switch models via env: openai/gpt-4o-mini, anthropic/*, llama, gemini.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Locale toggle changes currency and tax label across the whole CRM.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706D66"/>
                </a:solidFill>
                <a:latin typeface="Calibri"/>
              </a:rPr>
              <a:t>—  </a:t>
            </a:r>
            <a:r>
              <a:rPr sz="1200">
                <a:solidFill>
                  <a:srgbClr val="1C1A16"/>
                </a:solidFill>
                <a:latin typeface="Calibri"/>
              </a:rPr>
              <a:t>Audit log records who flipped which dial and when.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BUILT FOR YOUR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India and Nepal, day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5486400" cy="384048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Currency ₹ INR  ·  5% GST on classifieds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Sunday weekly special supported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Hindi (Devanagari) and English in UI and AI output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DIPR / government tender tracker out of the 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03120"/>
            <a:ext cx="5486400" cy="3840480"/>
          </a:xfrm>
          <a:prstGeom prst="rect">
            <a:avLst/>
          </a:prstGeom>
          <a:solidFill>
            <a:srgbClr val="F7F6F4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2103120"/>
            <a:ext cx="54864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1031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Currency NPR  ·  13% VAT on classifieds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Saturday weekly special supported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Nepali (Devanagari) and English in UI and AI output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706D66"/>
                </a:solidFill>
                <a:latin typeface="Calibri"/>
              </a:rPr>
              <a:t>—  </a:t>
            </a:r>
            <a:r>
              <a:rPr sz="1400">
                <a:solidFill>
                  <a:srgbClr val="1C1A16"/>
                </a:solidFill>
                <a:latin typeface="Calibri"/>
              </a:rPr>
              <a:t>Pricing tiers and tax rules configured per locale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06D66"/>
                </a:solidFill>
                <a:latin typeface="Calibri"/>
              </a:rPr>
              <a:t>Commercial rules live in Settings, not in code. Switch locale, see the whole CRM re-render.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PILOT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1A16"/>
                </a:solidFill>
                <a:latin typeface="Calibri"/>
              </a:rPr>
              <a:t>An 8-week pilot, then a clear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2697480" cy="411480"/>
          </a:xfrm>
          <a:prstGeom prst="rect">
            <a:avLst/>
          </a:prstGeom>
          <a:solidFill>
            <a:srgbClr val="1C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WEEKS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Onboard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Import advertisers and subscribers. Train sales and circulation staff. AI off; engines computing.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19456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194560"/>
            <a:ext cx="2697480" cy="411480"/>
          </a:xfrm>
          <a:prstGeom prst="rect">
            <a:avLst/>
          </a:prstGeom>
          <a:solidFill>
            <a:srgbClr val="1C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19456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WEEKS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Engines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7472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Churn, renewal and forecast live. AI in suggest-only mode for drafts; nothing auto-sent.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2697480" cy="411480"/>
          </a:xfrm>
          <a:prstGeom prst="rect">
            <a:avLst/>
          </a:prstGeom>
          <a:solidFill>
            <a:srgbClr val="1C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WEEKS 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AI assist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Triage and drafting on with engine fallback. Reminders firing. Audit log under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19456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2194560"/>
            <a:ext cx="2697480" cy="411480"/>
          </a:xfrm>
          <a:prstGeom prst="rect">
            <a:avLst/>
          </a:prstGeom>
          <a:solidFill>
            <a:srgbClr val="1C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WEEKS 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8346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1A16"/>
                </a:solidFill>
                <a:latin typeface="Calibri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47472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6D66"/>
                </a:solidFill>
                <a:latin typeface="Calibri"/>
              </a:rPr>
              <a:t>Dial autonomy to the level you trust. Review revenue impact. Continue, pause or expand.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06D66"/>
                </a:solidFill>
                <a:latin typeface="Calibri"/>
              </a:rPr>
              <a:t>All projected metrics are illustrative targets to validate in the pilot — never promised on day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6D66"/>
                </a:solidFill>
                <a:latin typeface="Calibri"/>
              </a:rPr>
              <a:t>News CRM · Sales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06D6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News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Let's run a pilot on your top 50 advertisers.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FCBC2"/>
                </a:solidFill>
                <a:latin typeface="Calibri"/>
              </a:rPr>
              <a:t>Two weeks. Your data. No commitment.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06240"/>
            <a:ext cx="10881360" cy="1554480"/>
          </a:xfrm>
          <a:prstGeom prst="rect">
            <a:avLst/>
          </a:prstGeom>
          <a:solidFill>
            <a:srgbClr val="2A2721"/>
          </a:solidFill>
          <a:ln>
            <a:solidFill>
              <a:srgbClr val="9E1B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34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E1B17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9E1B17"/>
                </a:solidFill>
                <a:latin typeface="Calibri"/>
              </a:rPr>
              <a:t>·  </a:t>
            </a:r>
            <a:r>
              <a:rPr sz="1300">
                <a:solidFill>
                  <a:srgbClr val="FFFFFF"/>
                </a:solidFill>
                <a:latin typeface="Calibri"/>
              </a:rPr>
              <a:t>30-minute product walkthrough with your sales and circulation leads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9E1B17"/>
                </a:solidFill>
                <a:latin typeface="Calibri"/>
              </a:rPr>
              <a:t>·  </a:t>
            </a:r>
            <a:r>
              <a:rPr sz="1300">
                <a:solidFill>
                  <a:srgbClr val="FFFFFF"/>
                </a:solidFill>
                <a:latin typeface="Calibri"/>
              </a:rPr>
              <a:t>Two-week sandbox with your top 50 advertisers and one delivery area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300" b="1">
                <a:solidFill>
                  <a:srgbClr val="9E1B17"/>
                </a:solidFill>
                <a:latin typeface="Calibri"/>
              </a:rPr>
              <a:t>·  </a:t>
            </a:r>
            <a:r>
              <a:rPr sz="1300">
                <a:solidFill>
                  <a:srgbClr val="FFFFFF"/>
                </a:solidFill>
                <a:latin typeface="Calibri"/>
              </a:rPr>
              <a:t>Joint review and a go / no-go at the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BC2"/>
                </a:solidFill>
                <a:latin typeface="Calibri"/>
              </a:rPr>
              <a:t>contact@news-crm.example     ·     news-crm.example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